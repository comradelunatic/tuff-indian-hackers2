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embeddedFontLst>
    <p:embeddedFont>
      <p:font typeface="JetBrains Mono" panose="020B0604020202020204" charset="0"/>
      <p:regular r:id="rId11"/>
      <p:bold r:id="rId12"/>
      <p:italic r:id="rId13"/>
      <p:boldItalic r:id="rId14"/>
    </p:embeddedFont>
    <p:embeddedFont>
      <p:font typeface="Lato" panose="020F0502020204030204" pitchFamily="34" charset="0"/>
      <p:regular r:id="rId15"/>
      <p:bold r:id="rId16"/>
      <p:italic r:id="rId17"/>
      <p:boldItalic r:id="rId18"/>
    </p:embeddedFont>
    <p:embeddedFont>
      <p:font typeface="Lato Light" panose="020F0502020204030204" pitchFamily="34" charset="0"/>
      <p:regular r:id="rId19"/>
      <p:bold r:id="rId20"/>
      <p:italic r:id="rId21"/>
      <p:boldItalic r:id="rId22"/>
    </p:embeddedFont>
    <p:embeddedFont>
      <p:font typeface="Poppins" panose="020B0502040204020203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B2BB99-6A75-4BDA-B55A-1B85BBC58DA4}">
  <a:tblStyle styleId="{53B2BB99-6A75-4BDA-B55A-1B85BBC58D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7925" y="4350841"/>
            <a:ext cx="72961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0550" y="2030908"/>
            <a:ext cx="33909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360408" y="2469058"/>
            <a:ext cx="9471183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AI-ML Intelligent Dead Reckoning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47875" y="3299519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 Light"/>
                <a:ea typeface="Lato Light"/>
                <a:cs typeface="Lato Light"/>
                <a:sym typeface="Lato Light"/>
              </a:rPr>
              <a:t>Seamless High-Precision Autonomous Navigation for GNSS-Denied Environments &amp; Planetary Rovers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2475" y="2116633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838450" y="4503241"/>
            <a:ext cx="18002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Track: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Aerospace &amp; Robotics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924425" y="4503241"/>
            <a:ext cx="12573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Organization: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ISRO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467475" y="4503241"/>
            <a:ext cx="28860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Key Tech: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Deep Sensor Fusion &amp; Adaptive EKF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44080"/>
            <a:ext cx="5324475" cy="2341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53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581775" y="3501330"/>
            <a:ext cx="497062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7171"/>
                </a:solidFill>
                <a:latin typeface="Poppins"/>
                <a:ea typeface="Poppins"/>
                <a:cs typeface="Poppins"/>
                <a:sym typeface="Poppins"/>
              </a:rPr>
              <a:t>The Critical Flaw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3958530"/>
            <a:ext cx="47339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Conventional Dead Reckoning  integrates raw IMU acceleration twice. A tiny offset bias of 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0.01 m/s²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results in over 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18 meters of positioning error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 just 60 seconds without correction!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2408932"/>
            <a:ext cx="49911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GNSS Outages &amp; Jamming: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Satellite signals (NavIC/GPS) are prone to occlusion in lunar craters, Martian valleys, deep canyons, and radio-dense zones.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14400" y="3403252"/>
            <a:ext cx="49911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Exponential IMU Drift: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Standard Inertial Measurement Units suffer from accelerometer bias and gyroscope noise walk, causing position error to grow quadratically over time ($E \propto t^2$).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14400" y="4397573"/>
            <a:ext cx="49911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Terrain &amp; Wheel Slip Dynamics: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Unstructured planetary regolith causes severe traction loss, rendering traditional wheel odometry inaccurate.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298698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243274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42138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990600" y="485775"/>
            <a:ext cx="111513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Problem Statement &amp; Challenges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95537"/>
            <a:ext cx="351785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395537"/>
            <a:ext cx="351785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2395537"/>
            <a:ext cx="351799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9531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76300" y="3252787"/>
            <a:ext cx="307366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1. Multi-Sensor Data Ingestion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76300" y="4024312"/>
            <a:ext cx="2927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Combines 6-DOF IMU (Accelerometer &amp; Gyroscope), Wheel Encoders, Visual Odometry, and Barometric Altimeter at high sampling rates (200Hz).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32275" y="3252787"/>
            <a:ext cx="307366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2. Deep Neural Noise Adapter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32275" y="4024312"/>
            <a:ext cx="2927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LSTM-Transformer model dynamically predicts real-time IMU bias and dynamically tunes the Noise Covariance Matrices ($Q, R$) of the Kalman Filter.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88250" y="3252787"/>
            <a:ext cx="3073821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3. Adaptive EKF &amp; Pose Output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388250" y="4024312"/>
            <a:ext cx="29274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Extended Kalman Filter fuses network corrections to output sub-meter 3D position, velocity, and orientation estimates even during prolonged outages.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384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2275" y="27384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8250" y="27384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057275" y="485775"/>
            <a:ext cx="1108138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Proposed AI-ML Navigation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04937"/>
            <a:ext cx="11029950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2157412"/>
            <a:ext cx="106299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5348287"/>
            <a:ext cx="2550318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74243" y="5348287"/>
            <a:ext cx="2550318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67437" y="5348287"/>
            <a:ext cx="2550318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60631" y="5348287"/>
            <a:ext cx="2550318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1025" y="595312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3700462" y="1690687"/>
            <a:ext cx="2590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Raw Integration (Drift)</a:t>
            </a:r>
            <a:r>
              <a:rPr lang="en-US" sz="120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i="0" u="none" strike="noStrike" cap="none" dirty="0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 AI-ML Corrected Path</a:t>
            </a:r>
            <a:r>
              <a:rPr lang="en-US" sz="120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 True Trajectory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11506200" y="1604962"/>
            <a:ext cx="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Rerun Simulation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04875" y="5472112"/>
            <a:ext cx="230266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18.4 m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04875" y="5757862"/>
            <a:ext cx="23026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RAW IMU DRIFT ERROR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3598068" y="5472112"/>
            <a:ext cx="230266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0.64 m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3598068" y="5757862"/>
            <a:ext cx="23026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AI-ML CORRECTED ERROR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291262" y="5472112"/>
            <a:ext cx="230266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96.5%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291262" y="5757862"/>
            <a:ext cx="23026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DRIFT MITIGATION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984456" y="5472112"/>
            <a:ext cx="230266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4.2 ms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984456" y="5757862"/>
            <a:ext cx="23026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EDGE INFERENCE TIME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81050" y="16954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466975" y="16954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25942" y="1690687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923925" y="485775"/>
            <a:ext cx="1122140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Working Prototype: Real-Time Dead Reckoning Simulator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76500"/>
            <a:ext cx="532447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3855094"/>
            <a:ext cx="4991100" cy="46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953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6581775" y="2771775"/>
            <a:ext cx="497062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18CF8"/>
                </a:solidFill>
                <a:latin typeface="Poppins"/>
                <a:ea typeface="Poppins"/>
                <a:cs typeface="Poppins"/>
                <a:sym typeface="Poppins"/>
              </a:rPr>
              <a:t>Key Model Specs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581775" y="3228975"/>
            <a:ext cx="4733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125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Architecture: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Light-TCN + Gated Recurrent Unit (GRU)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81775" y="3695700"/>
            <a:ext cx="4733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125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Parameter Count: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~145,000 parameters (Ultra-compact)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81775" y="4162425"/>
            <a:ext cx="4733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125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Quantization: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INT8 TensorRT / EdgeTPU compiled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581775" y="4629150"/>
            <a:ext cx="4733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125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Dataset: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KITTI Odometry + ISRO Lunar Rover Terrain Simulation Data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14400" y="2216943"/>
            <a:ext cx="49911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Temporal Residual Convolution: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Captures high-frequency vibration and transient sensor noise patterns before double integration.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14400" y="3211264"/>
            <a:ext cx="4991100" cy="120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Dynamic Covariance Tuning: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Neural network outputs continuous scale factors for process noise covariance matrices: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14400" y="4589710"/>
            <a:ext cx="49911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Zero-Velocity Update (ZUPT) Intelligence: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AI accurately detects stationary micro-windows to reset drift accumulating on wheel/rover stops.</a:t>
            </a:r>
            <a:endParaRPr dirty="0"/>
          </a:p>
        </p:txBody>
      </p:sp>
      <p:pic>
        <p:nvPicPr>
          <p:cNvPr id="170" name="Google Shape;17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224075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32350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9650" y="4017019"/>
            <a:ext cx="2354907" cy="210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1025" y="461352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990600" y="485775"/>
            <a:ext cx="111513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Machine Learning Engine &amp; Noise Adaptation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05012"/>
            <a:ext cx="53244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53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2014537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6619875" y="2546151"/>
            <a:ext cx="49911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Translational Error: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Reduced from 8.5% (pure IMU integration) down to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1.12% total trajectory length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over 5 km runs.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619875" y="3266182"/>
            <a:ext cx="49911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Prolonged Outage Tolerance: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Maintained continuous sub-meter localization accuracy during complete 10-minute GNSS blackout windows.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619875" y="4260502"/>
            <a:ext cx="49911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Real-time Edge Execution: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Operates effortlessly under 5 milliseconds latency on resource-constrained embedded processors.</a:t>
            </a:r>
            <a:endParaRPr/>
          </a:p>
        </p:txBody>
      </p:sp>
      <p:pic>
        <p:nvPicPr>
          <p:cNvPr id="215" name="Google Shape;21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256996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28999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428431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990600" y="485775"/>
            <a:ext cx="111513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Experimental Results &amp; Accuracy Benchmarks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52700"/>
            <a:ext cx="351785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000" y="2552700"/>
            <a:ext cx="351785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2552700"/>
            <a:ext cx="3517999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953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876300" y="3409950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Size &amp; Weight (SWaP)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76300" y="3867150"/>
            <a:ext cx="2927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Designed for space flight payloads: low weight impact (&lt; 250g) and compact PCB form factor suitable for Cubesats &amp; Planetary Rovers.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4632275" y="3409950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Ultra-Low Power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4632275" y="3867150"/>
            <a:ext cx="2927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Consumes &lt; 3.5 Watts using hardware-accelerated INT8 neural operations on radiation-hardened or industrial grade edge SoCs.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8388250" y="3409950"/>
            <a:ext cx="307382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Fault Tolerance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388250" y="3867150"/>
            <a:ext cx="292744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Dual-redundant execution thread architecture ensures automatic fallback to standard EKF if neural accelerator flags hardware anomaly.</a:t>
            </a:r>
            <a:endParaRPr/>
          </a:p>
        </p:txBody>
      </p:sp>
      <p:pic>
        <p:nvPicPr>
          <p:cNvPr id="234" name="Google Shape;23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8956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2275" y="2895600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8250" y="28956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990600" y="485775"/>
            <a:ext cx="111513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SWaP Optimization &amp; Embedded Deployment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76537"/>
            <a:ext cx="351785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776537"/>
            <a:ext cx="351785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776537"/>
            <a:ext cx="3517999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59531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904875" y="3071812"/>
            <a:ext cx="304366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PHASE 1: Q1-Q2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04875" y="3414712"/>
            <a:ext cx="304366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Algorithm Simulation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904875" y="3871912"/>
            <a:ext cx="28987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Synthesize space rover motion datasets, train light-TCN models, and benchmark against KITTI &amp; synthetic ISRO terrain models.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4660850" y="3071812"/>
            <a:ext cx="304366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818CF8"/>
                </a:solidFill>
                <a:latin typeface="Poppins"/>
                <a:ea typeface="Poppins"/>
                <a:cs typeface="Poppins"/>
                <a:sym typeface="Poppins"/>
              </a:rPr>
              <a:t>PHASE 2: Q3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4660850" y="3414712"/>
            <a:ext cx="304366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Hardware-in-the-Loop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4660850" y="3871912"/>
            <a:ext cx="28987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Deploy trained networks onto ARM Cortex / NVIDIA Jetson Orin Nano with physical MEMS IMU sensors on test rover platforms.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8416825" y="3071812"/>
            <a:ext cx="304381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PHASE 3: Q4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416825" y="3414712"/>
            <a:ext cx="304381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Field &amp; Mission Test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8416825" y="3871912"/>
            <a:ext cx="289887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Execute trials in real subterranean, cave, and unstructured off-road environments to validate seamless NavIC fallback integration.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057275" y="485775"/>
            <a:ext cx="1108138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Development &amp; Deployment Roadmap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607</Words>
  <Application>Microsoft Office PowerPoint</Application>
  <PresentationFormat>Widescreen</PresentationFormat>
  <Paragraphs>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Lato Light</vt:lpstr>
      <vt:lpstr>Lato</vt:lpstr>
      <vt:lpstr>Arial</vt:lpstr>
      <vt:lpstr>JetBrains Mono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SOHAN</dc:creator>
  <cp:lastModifiedBy>SOHAN GHOSH</cp:lastModifiedBy>
  <cp:revision>2</cp:revision>
  <dcterms:modified xsi:type="dcterms:W3CDTF">2026-08-30T13:15:48Z</dcterms:modified>
</cp:coreProperties>
</file>